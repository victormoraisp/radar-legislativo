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RADAR LEGISLATIVO</a:t>
            </a:r>
          </a:p>
          <a:p>
            <a:pPr algn="l">
              <a:spcBef>
                <a:spcPts val="600"/>
              </a:spcBef>
              <a:defRPr sz="2000" b="0">
                <a:solidFill>
                  <a:srgbClr val="93C5FD"/>
                </a:solidFill>
              </a:defRPr>
            </a:pPr>
            <a:r>
              <a:t>Inteligência legislativa automatizada para a Bússola Pública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1">
                <a:solidFill>
                  <a:srgbClr val="EA580C"/>
                </a:solidFill>
              </a:defRPr>
            </a:pPr>
            <a:r>
              <a:t>O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Bef>
                <a:spcPts val="0"/>
              </a:spcBef>
              <a:defRPr sz="1500" b="1">
                <a:solidFill>
                  <a:srgbClr val="FDBA74"/>
                </a:solidFill>
              </a:defRPr>
            </a:pPr>
            <a:r>
              <a:t>2 analistas, 0 escala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BD5E1"/>
                </a:solidFill>
              </a:defRPr>
            </a:pPr>
            <a:r>
              <a:t>Leitura manual do site da Câmara o dia inteiro para montar um relatório vendido a R$ 15 mil/mês por cliente.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92608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Bef>
                <a:spcPts val="0"/>
              </a:spcBef>
              <a:defRPr sz="1500" b="1">
                <a:solidFill>
                  <a:srgbClr val="FDBA74"/>
                </a:solidFill>
              </a:defRPr>
            </a:pPr>
            <a:r>
              <a:t>Nenhuma base de dados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BD5E1"/>
                </a:solidFill>
              </a:defRPr>
            </a:pPr>
            <a:r>
              <a:t>Planilhas pessoais, sem histórico organizado. Tudo o que foi consultado se perde.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1772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Bef>
                <a:spcPts val="0"/>
              </a:spcBef>
              <a:defRPr sz="1500" b="1">
                <a:solidFill>
                  <a:srgbClr val="FDBA74"/>
                </a:solidFill>
              </a:defRPr>
            </a:pPr>
            <a:r>
              <a:t>Classificação inconsistente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BD5E1"/>
                </a:solidFill>
              </a:defRPr>
            </a:pPr>
            <a:r>
              <a:t>Cada analista rotula como quer. Nenhum indicador é medido.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617720"/>
            <a:ext cx="5212080" cy="1508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>
              <a:spcBef>
                <a:spcPts val="0"/>
              </a:spcBef>
              <a:defRPr sz="1500" b="1">
                <a:solidFill>
                  <a:srgbClr val="FDBA74"/>
                </a:solidFill>
              </a:defRPr>
            </a:pPr>
            <a:r>
              <a:t>Alertas por memória</a:t>
            </a:r>
          </a:p>
          <a:p>
            <a:pPr algn="l">
              <a:spcBef>
                <a:spcPts val="300"/>
              </a:spcBef>
              <a:defRPr sz="1200" b="0">
                <a:solidFill>
                  <a:srgbClr val="CBD5E1"/>
                </a:solidFill>
              </a:defRPr>
            </a:pPr>
            <a:r>
              <a:t>Se o analista esquece, o cliente é pego de surpresa por projetos que tramitavam há meses.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O problema não é falta de dado. É falta de engenharia de dados.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A solução: pipeline automatizado com IA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</a:defRPr>
            </a:pPr>
            <a:r>
              <a:t>Do dado público bruto ao relatório executivo, sem intervenção manual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94960" cy="2057400"/>
          </a:xfrm>
          <a:prstGeom prst="roundRect">
            <a:avLst/>
          </a:prstGeom>
          <a:solidFill>
            <a:srgbClr val="DBEAFE"/>
          </a:solidFill>
          <a:ln w="2222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Bef>
                <a:spcPts val="0"/>
              </a:spcBef>
              <a:defRPr sz="1700" b="1">
                <a:solidFill>
                  <a:srgbClr val="0F172A"/>
                </a:solidFill>
              </a:defRPr>
            </a:pPr>
            <a:r>
              <a:t>Base única e histórica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475569"/>
                </a:solidFill>
              </a:defRPr>
            </a:pPr>
            <a:r>
              <a:t>PostgreSQL na nuvem (Supabase) com 30 dias de dados: 16.082 proposições, 1.393 votações, despesas e cadastros.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394960" cy="2057400"/>
          </a:xfrm>
          <a:prstGeom prst="roundRect">
            <a:avLst/>
          </a:prstGeom>
          <a:solidFill>
            <a:srgbClr val="EDE9FE"/>
          </a:solidFill>
          <a:ln w="2222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Bef>
                <a:spcPts val="0"/>
              </a:spcBef>
              <a:defRPr sz="1700" b="1">
                <a:solidFill>
                  <a:srgbClr val="0F172A"/>
                </a:solidFill>
              </a:defRPr>
            </a:pPr>
            <a:r>
              <a:t>IA que enriquece o dado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475569"/>
                </a:solidFill>
              </a:defRPr>
            </a:pPr>
            <a:r>
              <a:t>Resumo executivo por proposição gerado pela OpenAI e persistido no banco (coluna resumo_ia). Não é decoração: aparece no relatório do cliente.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0"/>
            <a:ext cx="5394960" cy="2057400"/>
          </a:xfrm>
          <a:prstGeom prst="roundRect">
            <a:avLst/>
          </a:prstGeom>
          <a:solidFill>
            <a:srgbClr val="FFEDD5"/>
          </a:solidFill>
          <a:ln w="2222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Bef>
                <a:spcPts val="0"/>
              </a:spcBef>
              <a:defRPr sz="1700" b="1">
                <a:solidFill>
                  <a:srgbClr val="0F172A"/>
                </a:solidFill>
              </a:defRPr>
            </a:pPr>
            <a:r>
              <a:t>Entrega automática às 06h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475569"/>
                </a:solidFill>
              </a:defRPr>
            </a:pPr>
            <a:r>
              <a:t>Workflow n8n consulta o banco, gera análise executiva com IA e envia o resumo diário por e-mail. Roda sozinho, todo dia.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394960" cy="2057400"/>
          </a:xfrm>
          <a:prstGeom prst="roundRect">
            <a:avLst/>
          </a:prstGeom>
          <a:solidFill>
            <a:srgbClr val="DCFCE7"/>
          </a:solidFill>
          <a:ln w="22225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>
              <a:spcBef>
                <a:spcPts val="0"/>
              </a:spcBef>
              <a:defRPr sz="1700" b="1">
                <a:solidFill>
                  <a:srgbClr val="0F172A"/>
                </a:solidFill>
              </a:defRPr>
            </a:pPr>
            <a:r>
              <a:t>Rastreável e reprocessável</a:t>
            </a:r>
          </a:p>
          <a:p>
            <a:pPr algn="l">
              <a:spcBef>
                <a:spcPts val="500"/>
              </a:spcBef>
              <a:defRPr sz="1300" b="0">
                <a:solidFill>
                  <a:srgbClr val="475569"/>
                </a:solidFill>
              </a:defRPr>
            </a:pPr>
            <a:r>
              <a:t>JSON bruto preservado, validações com Pandas, versionamento no GitHub e custo de IA medido antes de escalar.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1">
                <a:solidFill>
                  <a:srgbClr val="1D4ED8"/>
                </a:solidFill>
              </a:defRPr>
            </a:pPr>
            <a:r>
              <a:t>Dois analistas deixam de ler site e passam a validar sinal. O produto de R$ 15 mil/mês escala sem contratar.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Arquitetura e stack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</a:defRPr>
            </a:pPr>
            <a:r>
              <a:t>Python · Pandas · SQL · Supabase · OpenAI · n8n · Git/GitHub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463040"/>
            <a:ext cx="2423160" cy="12344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API Câmara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Dados Abertos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5 endpoints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953512" y="1938528"/>
            <a:ext cx="2743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73552" y="1463040"/>
            <a:ext cx="2423160" cy="123444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Extração Python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requests + paginação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try/except + retry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724144" y="1938528"/>
            <a:ext cx="2743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44184" y="1463040"/>
            <a:ext cx="2423160" cy="123444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CA8A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JSON bruto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data/raw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reprocessável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94776" y="1938528"/>
            <a:ext cx="27432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4816" y="1463040"/>
            <a:ext cx="2423160" cy="123444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Pandas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validações, tipagem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deduplicação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0149840" y="2788920"/>
            <a:ext cx="27432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75120" y="3246120"/>
            <a:ext cx="4937760" cy="13716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Supabase · PostgreSQL (schema radar)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3 tabelas fato + 4 dimensões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views SQL analíticas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coluna resumo_ia gerada por 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3246120"/>
            <a:ext cx="3108960" cy="137160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DB2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Camada de IA (OpenAI)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resumo executivo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por proposição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custo medido antes de escalar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172200" y="3794760"/>
            <a:ext cx="457200" cy="274320"/>
          </a:xfrm>
          <a:prstGeom prst="righ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9006840" y="4709160"/>
            <a:ext cx="274320" cy="365760"/>
          </a:xfrm>
          <a:prstGeom prst="down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852160" y="5166360"/>
            <a:ext cx="5669280" cy="1280160"/>
          </a:xfrm>
          <a:prstGeom prst="roundRect">
            <a:avLst/>
          </a:prstGeom>
          <a:solidFill>
            <a:srgbClr val="FFEDD5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n8n · automação diária às 06h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Supabase REST → contexto → OpenAI → HTML → e-mail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workflow exportado e versionado no GitHub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5166360"/>
            <a:ext cx="2286000" cy="12801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spcBef>
                <a:spcPts val="0"/>
              </a:spcBef>
              <a:defRPr sz="1500" b="1">
                <a:solidFill>
                  <a:srgbClr val="0F172A"/>
                </a:solidFill>
              </a:defRPr>
            </a:pPr>
            <a:r>
              <a:t>Cliente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resumo diário</a:t>
            </a:r>
          </a:p>
          <a:p>
            <a:pPr algn="ctr">
              <a:spcBef>
                <a:spcPts val="200"/>
              </a:spcBef>
              <a:defRPr sz="1200" b="0">
                <a:solidFill>
                  <a:srgbClr val="475569"/>
                </a:solidFill>
              </a:defRPr>
            </a:pPr>
            <a:r>
              <a:t>no e-mail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5349240" y="5669280"/>
            <a:ext cx="457200" cy="274320"/>
          </a:xfrm>
          <a:prstGeom prst="leftArrow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Demo · Banco populado e modelo de dados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</a:defRPr>
            </a:pPr>
            <a:r>
              <a:t>Supabase/PostgreSQL com 30 dias de dados ingeridos (abril/2026)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fato_proposicao:  16.082 linhas</a:t>
            </a:r>
            <a:r>
              <a:rPr sz="1100" b="0">
                <a:solidFill>
                  <a:srgbClr val="475569"/>
                </a:solidFill>
              </a:rPr>
              <a:t>   (com resumo_ia)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58568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fato_votacao:  1.393 linhas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99816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fato_despesa:  3.000 linhas</a:t>
            </a:r>
            <a:r>
              <a:rPr sz="1100" b="0">
                <a:solidFill>
                  <a:srgbClr val="475569"/>
                </a:solidFill>
              </a:rPr>
              <a:t>   (amostra de 36.542)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41064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dim_deputado:  512 linhas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82312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dim_partido:  21 linhas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623560"/>
            <a:ext cx="47548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>
              <a:spcBef>
                <a:spcPts val="0"/>
              </a:spcBef>
              <a:defRPr sz="1400" b="1">
                <a:solidFill>
                  <a:srgbClr val="0F172A"/>
                </a:solidFill>
              </a:defRPr>
            </a:pPr>
            <a:r>
              <a:t>dim_tema + dim_situacao:  131 linhas</a:t>
            </a:r>
            <a:r>
              <a:rPr sz="1100" b="0">
                <a:solidFill>
                  <a:srgbClr val="475569"/>
                </a:solidFill>
              </a:rPr>
              <a:t>   (referências)</a:t>
            </a:r>
          </a:p>
        </p:txBody>
      </p:sp>
      <p:pic>
        <p:nvPicPr>
          <p:cNvPr id="9" name="Picture 8" descr="print_supabase_tabe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417320"/>
            <a:ext cx="5943600" cy="31841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56692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>
                <a:solidFill>
                  <a:srgbClr val="475569"/>
                </a:solidFill>
              </a:defRPr>
            </a:pPr>
            <a:r>
              <a:t>Table Editor do Supabase — schema radar populado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0936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200" b="0">
                <a:solidFill>
                  <a:srgbClr val="475569"/>
                </a:solidFill>
              </a:defRPr>
            </a:pPr>
            <a:r>
              <a:t>Modelo estrela: 3 fatos + 4 dimensões · validações com Pandas (nulos, datas, valores) · acesso em modo leitura no README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/>
          <a:lstStyle/>
          <a:p>
            <a:pPr algn="l">
              <a:spcBef>
                <a:spcPts val="600"/>
              </a:spcBef>
              <a:defRPr sz="2800" b="1">
                <a:solidFill>
                  <a:srgbClr val="FFFFFF"/>
                </a:solidFill>
              </a:defRPr>
            </a:pPr>
            <a:r>
              <a:t>Demo · Automação n8n + IA no produto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CBD5E1"/>
                </a:solidFill>
              </a:defRPr>
            </a:pPr>
            <a:r>
              <a:t>A IA enriquece o dado no banco e aparece no relatório do cliente</a:t>
            </a:r>
          </a:p>
        </p:txBody>
      </p:sp>
      <p:pic>
        <p:nvPicPr>
          <p:cNvPr id="3" name="Picture 2" descr="print_n8n_exec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5486400" cy="29568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>
                <a:solidFill>
                  <a:srgbClr val="475569"/>
                </a:solidFill>
              </a:defRPr>
            </a:pPr>
            <a:r>
              <a:t>Execução bem-sucedida do workflow n8n (diário às 06h)</a:t>
            </a:r>
          </a:p>
        </p:txBody>
      </p:sp>
      <p:pic>
        <p:nvPicPr>
          <p:cNvPr id="5" name="Picture 4" descr="print_email_re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17320"/>
            <a:ext cx="5303520" cy="28497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4480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defRPr sz="1000" b="0">
                <a:solidFill>
                  <a:srgbClr val="475569"/>
                </a:solidFill>
              </a:defRPr>
            </a:pPr>
            <a:r>
              <a:t>E-mail recebido: análise executiva + coluna Resumo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3776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500" b="1">
                <a:solidFill>
                  <a:srgbClr val="0F172A"/>
                </a:solidFill>
              </a:defRPr>
            </a:pPr>
            <a:r>
              <a:t>IA aplicada em dois pontos: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75569"/>
                </a:solidFill>
              </a:defRPr>
            </a:pPr>
            <a:r>
              <a:t>1. Resumo executivo por proposição persistido na coluna resumo_ia (Caminho B do desafio) — exibido na tabela do e-mail.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475569"/>
                </a:solidFill>
              </a:defRPr>
            </a:pPr>
            <a:r>
              <a:t>2. Análise executiva do dia gerada no n8n a partir das últimas proposições e votações — abertura do e-mail.</a:t>
            </a:r>
          </a:p>
          <a:p>
            <a:pPr algn="l">
              <a:spcBef>
                <a:spcPts val="600"/>
              </a:spcBef>
              <a:defRPr sz="1300" b="1">
                <a:solidFill>
                  <a:srgbClr val="15803D"/>
                </a:solidFill>
              </a:defRPr>
            </a:pPr>
            <a:r>
              <a:t>Custo sob controle: teste com 10 registros, custo real impresso e projeção antes de escalar para as 16 mil proposições.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200" b="1">
                <a:solidFill>
                  <a:srgbClr val="FFFFFF"/>
                </a:solidFill>
              </a:defRPr>
            </a:pPr>
            <a:r>
              <a:t>Próximos passos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Bef>
                <a:spcPts val="0"/>
              </a:spcBef>
              <a:defRPr sz="1400" b="1">
                <a:solidFill>
                  <a:srgbClr val="93C5FD"/>
                </a:solidFill>
              </a:defRPr>
            </a:pPr>
            <a:r>
              <a:t>1. Ingestão incremental diária</a:t>
            </a:r>
            <a:r>
              <a:rPr sz="1200" b="0">
                <a:solidFill>
                  <a:srgbClr val="CBD5E1"/>
                </a:solidFill>
              </a:rPr>
              <a:t>  —  O n8n passa a acionar também a carga: dado novo todo dia, histórico crescente.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59152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Bef>
                <a:spcPts val="0"/>
              </a:spcBef>
              <a:defRPr sz="1400" b="1">
                <a:solidFill>
                  <a:srgbClr val="93C5FD"/>
                </a:solidFill>
              </a:defRPr>
            </a:pPr>
            <a:r>
              <a:t>2. Classificação temática com embeddings</a:t>
            </a:r>
            <a:r>
              <a:rPr sz="1200" b="0">
                <a:solidFill>
                  <a:srgbClr val="CBD5E1"/>
                </a:solidFill>
              </a:rPr>
              <a:t>  —  pgvector já habilitado no Supabase: tema automático por similaridade de cosseno (Caminho 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55264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Bef>
                <a:spcPts val="0"/>
              </a:spcBef>
              <a:defRPr sz="1400" b="1">
                <a:solidFill>
                  <a:srgbClr val="93C5FD"/>
                </a:solidFill>
              </a:defRPr>
            </a:pPr>
            <a:r>
              <a:t>3. Alertas por tema crítico</a:t>
            </a:r>
            <a:r>
              <a:rPr sz="1200" b="0">
                <a:solidFill>
                  <a:srgbClr val="CBD5E1"/>
                </a:solidFill>
              </a:rPr>
              <a:t>  —  Telegram/e-mail imediato quando proposição de Tecnologia, Tributário ou setor do cliente é apresentada.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51376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Bef>
                <a:spcPts val="0"/>
              </a:spcBef>
              <a:defRPr sz="1400" b="1">
                <a:solidFill>
                  <a:srgbClr val="93C5FD"/>
                </a:solidFill>
              </a:defRPr>
            </a:pPr>
            <a:r>
              <a:t>4. Dashboard executivo</a:t>
            </a:r>
            <a:r>
              <a:rPr sz="1200" b="0">
                <a:solidFill>
                  <a:srgbClr val="CBD5E1"/>
                </a:solidFill>
              </a:rPr>
              <a:t>  —  Power BI conectado ao Supabase: proposições por tema, atividade por partido e deputado.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47488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l">
              <a:spcBef>
                <a:spcPts val="0"/>
              </a:spcBef>
              <a:defRPr sz="1400" b="1">
                <a:solidFill>
                  <a:srgbClr val="93C5FD"/>
                </a:solidFill>
              </a:defRPr>
            </a:pPr>
            <a:r>
              <a:t>5. Produto multi-cliente</a:t>
            </a:r>
            <a:r>
              <a:rPr sz="1200" b="0">
                <a:solidFill>
                  <a:srgbClr val="CBD5E1"/>
                </a:solidFill>
              </a:rPr>
              <a:t>  —  Relatórios segmentados por setor de interesse: o relatório de R$ 15 mil/mês vira linha de produção.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300" b="0">
                <a:solidFill>
                  <a:srgbClr val="FFFFFF"/>
                </a:solidFill>
              </a:defRPr>
            </a:pPr>
            <a:r>
              <a:t>Radar Legislativo · github.com/victormoraisp/radar-legislativo · Victor Morais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